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bril Fatface" panose="02000503000000020003" pitchFamily="2" charset="0"/>
      <p:regular r:id="rId14"/>
    </p:embeddedFont>
    <p:embeddedFont>
      <p:font typeface="Anton" pitchFamily="2" charset="0"/>
      <p:regular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Open Sauce Bold" panose="020B0604020202020204" charset="0"/>
      <p:regular r:id="rId18"/>
    </p:embeddedFont>
    <p:embeddedFont>
      <p:font typeface="Poppins" panose="00000500000000000000" pitchFamily="2" charset="0"/>
      <p:regular r:id="rId19"/>
    </p:embeddedFont>
    <p:embeddedFont>
      <p:font typeface="The Seasons" panose="020B0604020202020204" charset="0"/>
      <p:regular r:id="rId20"/>
    </p:embeddedFont>
    <p:embeddedFont>
      <p:font typeface="The Seaso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516" y="-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Bhatt" userId="fafca5ce4168755f" providerId="LiveId" clId="{C1D9CCCD-904C-49B8-B365-11B43E2414FA}"/>
    <pc:docChg chg="undo custSel modSld">
      <pc:chgData name="Bhavya Bhatt" userId="fafca5ce4168755f" providerId="LiveId" clId="{C1D9CCCD-904C-49B8-B365-11B43E2414FA}" dt="2026-08-25T17:09:22.576" v="122" actId="1076"/>
      <pc:docMkLst>
        <pc:docMk/>
      </pc:docMkLst>
      <pc:sldChg chg="modSp mod">
        <pc:chgData name="Bhavya Bhatt" userId="fafca5ce4168755f" providerId="LiveId" clId="{C1D9CCCD-904C-49B8-B365-11B43E2414FA}" dt="2026-08-25T17:09:22.576" v="122" actId="1076"/>
        <pc:sldMkLst>
          <pc:docMk/>
          <pc:sldMk cId="0" sldId="257"/>
        </pc:sldMkLst>
        <pc:spChg chg="mod">
          <ac:chgData name="Bhavya Bhatt" userId="fafca5ce4168755f" providerId="LiveId" clId="{C1D9CCCD-904C-49B8-B365-11B43E2414FA}" dt="2026-08-25T17:02:22.877" v="7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Bhavya Bhatt" userId="fafca5ce4168755f" providerId="LiveId" clId="{C1D9CCCD-904C-49B8-B365-11B43E2414FA}" dt="2026-08-25T17:09:22.576" v="12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Bhavya Bhatt" userId="fafca5ce4168755f" providerId="LiveId" clId="{C1D9CCCD-904C-49B8-B365-11B43E2414FA}" dt="2026-08-25T17:08:36.586" v="83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Bhavya Bhatt" userId="fafca5ce4168755f" providerId="LiveId" clId="{C1D9CCCD-904C-49B8-B365-11B43E2414FA}" dt="2026-08-25T17:02:33.711" v="80" actId="14100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08035" y="-4316939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1329066"/>
            <a:ext cx="18288000" cy="12192000"/>
          </a:xfrm>
          <a:custGeom>
            <a:avLst/>
            <a:gdLst/>
            <a:ahLst/>
            <a:cxnLst/>
            <a:rect l="l" t="t" r="r" b="b"/>
            <a:pathLst>
              <a:path w="18288000" h="12192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4892" y="1211859"/>
            <a:ext cx="8459797" cy="156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2"/>
              </a:lnSpc>
              <a:spcBef>
                <a:spcPct val="0"/>
              </a:spcBef>
            </a:pPr>
            <a:r>
              <a:rPr lang="en-US" sz="11113" spc="-655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TEAM   MATES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10200" y="3961127"/>
            <a:ext cx="6324726" cy="2819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182" lvl="1" algn="l">
              <a:lnSpc>
                <a:spcPts val="5579"/>
              </a:lnSpc>
            </a:pPr>
            <a:endParaRPr lang="en-US" sz="3985" dirty="0">
              <a:solidFill>
                <a:srgbClr val="000000"/>
              </a:solidFill>
              <a:latin typeface="The Seasons"/>
              <a:ea typeface="The Seasons"/>
              <a:cs typeface="The Seasons"/>
              <a:sym typeface="The Seasons"/>
            </a:endParaRPr>
          </a:p>
          <a:p>
            <a:pPr marL="860365" lvl="1" indent="-430183" algn="l">
              <a:lnSpc>
                <a:spcPts val="5579"/>
              </a:lnSpc>
              <a:buAutoNum type="arabicPeriod"/>
            </a:pPr>
            <a:r>
              <a:rPr lang="en-US" sz="3985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Bhavya Bhatt </a:t>
            </a:r>
          </a:p>
          <a:p>
            <a:pPr marL="860365" lvl="1" indent="-430183" algn="l">
              <a:lnSpc>
                <a:spcPts val="5579"/>
              </a:lnSpc>
              <a:buAutoNum type="arabicPeriod"/>
            </a:pPr>
            <a:r>
              <a:rPr lang="en-US" sz="3985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Aditya Singh</a:t>
            </a:r>
          </a:p>
          <a:p>
            <a:pPr marL="860365" lvl="1" indent="-430183" algn="l">
              <a:lnSpc>
                <a:spcPts val="5579"/>
              </a:lnSpc>
              <a:buAutoNum type="arabicPeriod"/>
            </a:pPr>
            <a:r>
              <a:rPr lang="en-US" sz="3985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Ishaan </a:t>
            </a:r>
            <a:r>
              <a:rPr lang="en-US" sz="3985" dirty="0" err="1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Sehrawat</a:t>
            </a:r>
            <a:endParaRPr lang="en-US" sz="3985" dirty="0">
              <a:solidFill>
                <a:srgbClr val="000000"/>
              </a:solidFill>
              <a:latin typeface="The Seasons"/>
              <a:ea typeface="The Seasons"/>
              <a:cs typeface="The Seasons"/>
              <a:sym typeface="The Seaso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8153289" y="-7726307"/>
            <a:ext cx="35348280" cy="26237983"/>
            <a:chOff x="0" y="0"/>
            <a:chExt cx="47131040" cy="34983977"/>
          </a:xfrm>
        </p:grpSpPr>
        <p:sp>
          <p:nvSpPr>
            <p:cNvPr id="5" name="Freeform 5"/>
            <p:cNvSpPr/>
            <p:nvPr/>
          </p:nvSpPr>
          <p:spPr>
            <a:xfrm>
              <a:off x="0" y="16883658"/>
              <a:ext cx="21226386" cy="18100318"/>
            </a:xfrm>
            <a:custGeom>
              <a:avLst/>
              <a:gdLst/>
              <a:ahLst/>
              <a:cxnLst/>
              <a:rect l="l" t="t" r="r" b="b"/>
              <a:pathLst>
                <a:path w="21226386" h="18100318">
                  <a:moveTo>
                    <a:pt x="0" y="0"/>
                  </a:moveTo>
                  <a:lnTo>
                    <a:pt x="21226386" y="0"/>
                  </a:lnTo>
                  <a:lnTo>
                    <a:pt x="21226386" y="18100319"/>
                  </a:lnTo>
                  <a:lnTo>
                    <a:pt x="0" y="18100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5904653" y="0"/>
              <a:ext cx="21226386" cy="18100318"/>
            </a:xfrm>
            <a:custGeom>
              <a:avLst/>
              <a:gdLst/>
              <a:ahLst/>
              <a:cxnLst/>
              <a:rect l="l" t="t" r="r" b="b"/>
              <a:pathLst>
                <a:path w="21226386" h="18100318">
                  <a:moveTo>
                    <a:pt x="0" y="0"/>
                  </a:moveTo>
                  <a:lnTo>
                    <a:pt x="21226387" y="0"/>
                  </a:lnTo>
                  <a:lnTo>
                    <a:pt x="21226387" y="18100318"/>
                  </a:lnTo>
                  <a:lnTo>
                    <a:pt x="0" y="1810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876633">
            <a:off x="643423" y="3020066"/>
            <a:ext cx="3285154" cy="5522663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76671">
            <a:off x="13392431" y="4053516"/>
            <a:ext cx="3733238" cy="5298736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153289" y="493643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35188" y="93003"/>
            <a:ext cx="6879726" cy="117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4"/>
              </a:lnSpc>
            </a:pPr>
            <a:r>
              <a:rPr lang="en-US" sz="6852" u="sng">
                <a:solidFill>
                  <a:srgbClr val="185079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3208" y="4456724"/>
            <a:ext cx="3893255" cy="496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chose this problem because flood response requires </a:t>
            </a:r>
            <a:r>
              <a:rPr lang="en-US" sz="213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fast, data-driven decisions</a:t>
            </a:r>
            <a:r>
              <a:rPr lang="en-US" sz="2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yet resources are often limited and information is scattered. Our solution goes beyond predicting floods by identifying </a:t>
            </a:r>
            <a:r>
              <a:rPr lang="en-US" sz="213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who needs help first and where resources should be deployed</a:t>
            </a:r>
            <a:r>
              <a:rPr lang="en-US" sz="2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making disaster response faster, smarter, and more effective.</a:t>
            </a:r>
          </a:p>
          <a:p>
            <a:pPr algn="ctr">
              <a:lnSpc>
                <a:spcPts val="157"/>
              </a:lnSpc>
            </a:pPr>
            <a:endParaRPr lang="en-US" sz="213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23208" y="1524326"/>
            <a:ext cx="15201186" cy="1452172"/>
            <a:chOff x="0" y="0"/>
            <a:chExt cx="4003605" cy="3824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03604" cy="382465"/>
            </a:xfrm>
            <a:custGeom>
              <a:avLst/>
              <a:gdLst/>
              <a:ahLst/>
              <a:cxnLst/>
              <a:rect l="l" t="t" r="r" b="b"/>
              <a:pathLst>
                <a:path w="4003604" h="382465">
                  <a:moveTo>
                    <a:pt x="29030" y="0"/>
                  </a:moveTo>
                  <a:lnTo>
                    <a:pt x="3974574" y="0"/>
                  </a:lnTo>
                  <a:cubicBezTo>
                    <a:pt x="3990607" y="0"/>
                    <a:pt x="4003604" y="12997"/>
                    <a:pt x="4003604" y="29030"/>
                  </a:cubicBezTo>
                  <a:lnTo>
                    <a:pt x="4003604" y="353435"/>
                  </a:lnTo>
                  <a:cubicBezTo>
                    <a:pt x="4003604" y="369468"/>
                    <a:pt x="3990607" y="382465"/>
                    <a:pt x="3974574" y="382465"/>
                  </a:cubicBezTo>
                  <a:lnTo>
                    <a:pt x="29030" y="382465"/>
                  </a:lnTo>
                  <a:cubicBezTo>
                    <a:pt x="12997" y="382465"/>
                    <a:pt x="0" y="369468"/>
                    <a:pt x="0" y="353435"/>
                  </a:cubicBezTo>
                  <a:lnTo>
                    <a:pt x="0" y="29030"/>
                  </a:lnTo>
                  <a:cubicBezTo>
                    <a:pt x="0" y="12997"/>
                    <a:pt x="12997" y="0"/>
                    <a:pt x="29030" y="0"/>
                  </a:cubicBezTo>
                  <a:close/>
                </a:path>
              </a:pathLst>
            </a:custGeom>
            <a:solidFill>
              <a:srgbClr val="10498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4003605" cy="382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539414" y="1619528"/>
            <a:ext cx="14368773" cy="183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9"/>
              </a:lnSpc>
            </a:pPr>
            <a:r>
              <a:rPr lang="en-US" sz="3477">
                <a:solidFill>
                  <a:srgbClr val="FBF6F1"/>
                </a:solidFill>
                <a:latin typeface="Poppins"/>
                <a:ea typeface="Poppins"/>
                <a:cs typeface="Poppins"/>
                <a:sym typeface="Poppins"/>
              </a:rPr>
              <a:t>PS3:  Disaster response intelligence platform for flood prediction, emergency planning and resource allocation.</a:t>
            </a:r>
          </a:p>
          <a:p>
            <a:pPr algn="ctr">
              <a:lnSpc>
                <a:spcPts val="4869"/>
              </a:lnSpc>
            </a:pPr>
            <a:endParaRPr lang="en-US" sz="3477">
              <a:solidFill>
                <a:srgbClr val="FBF6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197007" y="3874527"/>
            <a:ext cx="1156536" cy="794557"/>
            <a:chOff x="0" y="0"/>
            <a:chExt cx="304602" cy="209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4602" cy="209266"/>
            </a:xfrm>
            <a:custGeom>
              <a:avLst/>
              <a:gdLst/>
              <a:ahLst/>
              <a:cxnLst/>
              <a:rect l="l" t="t" r="r" b="b"/>
              <a:pathLst>
                <a:path w="304602" h="209266">
                  <a:moveTo>
                    <a:pt x="0" y="0"/>
                  </a:moveTo>
                  <a:lnTo>
                    <a:pt x="304602" y="0"/>
                  </a:lnTo>
                  <a:lnTo>
                    <a:pt x="304602" y="209266"/>
                  </a:lnTo>
                  <a:lnTo>
                    <a:pt x="0" y="209266"/>
                  </a:lnTo>
                  <a:close/>
                </a:path>
              </a:pathLst>
            </a:custGeom>
            <a:solidFill>
              <a:srgbClr val="F5F7F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304602" cy="218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 b="1">
                  <a:solidFill>
                    <a:srgbClr val="FF313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400+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" t="-340" r="-17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8750" y="0"/>
            <a:ext cx="15342009" cy="10287000"/>
          </a:xfrm>
          <a:custGeom>
            <a:avLst/>
            <a:gdLst/>
            <a:ahLst/>
            <a:cxnLst/>
            <a:rect l="l" t="t" r="r" b="b"/>
            <a:pathLst>
              <a:path w="15342009" h="10287000">
                <a:moveTo>
                  <a:pt x="0" y="0"/>
                </a:moveTo>
                <a:lnTo>
                  <a:pt x="15342009" y="0"/>
                </a:lnTo>
                <a:lnTo>
                  <a:pt x="1534200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76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6633">
            <a:off x="-1471041" y="1333236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6671">
            <a:off x="16406841" y="6843529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755207" y="4461131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86399" y="0"/>
            <a:ext cx="9715202" cy="10287000"/>
          </a:xfrm>
          <a:custGeom>
            <a:avLst/>
            <a:gdLst/>
            <a:ahLst/>
            <a:cxnLst/>
            <a:rect l="l" t="t" r="r" b="b"/>
            <a:pathLst>
              <a:path w="9715202" h="10287000">
                <a:moveTo>
                  <a:pt x="0" y="0"/>
                </a:moveTo>
                <a:lnTo>
                  <a:pt x="9715202" y="0"/>
                </a:lnTo>
                <a:lnTo>
                  <a:pt x="97152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1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5960" y="434179"/>
            <a:ext cx="3348931" cy="59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sz="3372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Website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6633">
            <a:off x="-1984047" y="724164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405200">
            <a:off x="16816959" y="6443739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009247" y="3715171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86027" y="0"/>
            <a:ext cx="12866408" cy="10287000"/>
          </a:xfrm>
          <a:custGeom>
            <a:avLst/>
            <a:gdLst/>
            <a:ahLst/>
            <a:cxnLst/>
            <a:rect l="l" t="t" r="r" b="b"/>
            <a:pathLst>
              <a:path w="12866408" h="10287000">
                <a:moveTo>
                  <a:pt x="0" y="0"/>
                </a:moveTo>
                <a:lnTo>
                  <a:pt x="12866408" y="0"/>
                </a:lnTo>
                <a:lnTo>
                  <a:pt x="128664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010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6633">
            <a:off x="-1471041" y="-2057400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6671">
            <a:off x="16816959" y="6099350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009247" y="3715171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173311" y="-102951"/>
            <a:ext cx="10529943" cy="10389951"/>
          </a:xfrm>
          <a:custGeom>
            <a:avLst/>
            <a:gdLst/>
            <a:ahLst/>
            <a:cxnLst/>
            <a:rect l="l" t="t" r="r" b="b"/>
            <a:pathLst>
              <a:path w="10529943" h="10389951">
                <a:moveTo>
                  <a:pt x="0" y="0"/>
                </a:moveTo>
                <a:lnTo>
                  <a:pt x="10529943" y="0"/>
                </a:lnTo>
                <a:lnTo>
                  <a:pt x="10529943" y="10389951"/>
                </a:lnTo>
                <a:lnTo>
                  <a:pt x="0" y="10389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373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6633">
            <a:off x="422053" y="-22067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6671">
            <a:off x="15242173" y="5527166"/>
            <a:ext cx="2942082" cy="4114800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009247" y="3715171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82113" y="0"/>
            <a:ext cx="9949979" cy="10287000"/>
          </a:xfrm>
          <a:custGeom>
            <a:avLst/>
            <a:gdLst/>
            <a:ahLst/>
            <a:cxnLst/>
            <a:rect l="l" t="t" r="r" b="b"/>
            <a:pathLst>
              <a:path w="9949979" h="10287000">
                <a:moveTo>
                  <a:pt x="0" y="0"/>
                </a:moveTo>
                <a:lnTo>
                  <a:pt x="9949980" y="0"/>
                </a:lnTo>
                <a:lnTo>
                  <a:pt x="99499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91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27664" y="-3086100"/>
            <a:ext cx="8312727" cy="8229600"/>
          </a:xfrm>
          <a:custGeom>
            <a:avLst/>
            <a:gdLst/>
            <a:ahLst/>
            <a:cxnLst/>
            <a:rect l="l" t="t" r="r" b="b"/>
            <a:pathLst>
              <a:path w="8312727" h="8229600">
                <a:moveTo>
                  <a:pt x="0" y="0"/>
                </a:moveTo>
                <a:lnTo>
                  <a:pt x="8312728" y="0"/>
                </a:lnTo>
                <a:lnTo>
                  <a:pt x="83127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42607" y="3551094"/>
            <a:ext cx="11402786" cy="286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7"/>
              </a:lnSpc>
            </a:pPr>
            <a:r>
              <a:rPr lang="en-US" sz="16462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4554796" y="5675922"/>
            <a:ext cx="8312727" cy="8229600"/>
          </a:xfrm>
          <a:custGeom>
            <a:avLst/>
            <a:gdLst/>
            <a:ahLst/>
            <a:cxnLst/>
            <a:rect l="l" t="t" r="r" b="b"/>
            <a:pathLst>
              <a:path w="8312727" h="8229600">
                <a:moveTo>
                  <a:pt x="0" y="0"/>
                </a:moveTo>
                <a:lnTo>
                  <a:pt x="8312728" y="0"/>
                </a:lnTo>
                <a:lnTo>
                  <a:pt x="83127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85</Words>
  <Application>Microsoft Office PowerPoint</Application>
  <PresentationFormat>Custom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The Seasons Bold</vt:lpstr>
      <vt:lpstr>Anton</vt:lpstr>
      <vt:lpstr>Abril Fatface</vt:lpstr>
      <vt:lpstr>Calibri</vt:lpstr>
      <vt:lpstr>Arial</vt:lpstr>
      <vt:lpstr>Open Sauce Bold</vt:lpstr>
      <vt:lpstr>Canva Sans Bold</vt:lpstr>
      <vt:lpstr>The Seasons</vt:lpstr>
      <vt:lpstr>Canva Sans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Floods Demand Faster, Smarter Decision</dc:title>
  <cp:lastModifiedBy>Bhavya Bhatt</cp:lastModifiedBy>
  <cp:revision>1</cp:revision>
  <cp:lastPrinted>2026-08-25T17:09:49Z</cp:lastPrinted>
  <dcterms:created xsi:type="dcterms:W3CDTF">2006-08-16T00:00:00Z</dcterms:created>
  <dcterms:modified xsi:type="dcterms:W3CDTF">2026-08-26T06:02:06Z</dcterms:modified>
  <dc:identifier>DAHSAIfR_po</dc:identifier>
</cp:coreProperties>
</file>